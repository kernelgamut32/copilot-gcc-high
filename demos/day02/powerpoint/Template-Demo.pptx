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0E5A6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8-467E-9B40-74DC1522C6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spPr>
            <a:solidFill>
              <a:srgbClr val="C97B3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41</c:v>
                </c:pt>
                <c:pt idx="2">
                  <c:v>52</c:v>
                </c:pt>
                <c:pt idx="3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28-467E-9B40-74DC1522C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860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A4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7B3C"/>
          </a:solidFill>
          <a:ln/>
        </p:spPr>
      </p:sp>
      <p:pic>
        <p:nvPicPr>
          <p:cNvPr id="3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MASTER">
    <p:bg>
      <p:bgPr>
        <a:solidFill>
          <a:srgbClr val="0E5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852160"/>
            <a:ext cx="548640" cy="54864"/>
          </a:xfrm>
          <a:prstGeom prst="rect">
            <a:avLst/>
          </a:prstGeom>
          <a:solidFill>
            <a:srgbClr val="C97B3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4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97680"/>
            <a:ext cx="914400" cy="45720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7" name="Text 1"/>
          <p:cNvSpPr>
            <a:spLocks noGrp="1"/>
          </p:cNvSpPr>
          <p:nvPr>
            <p:ph type="body" idx="10"/>
          </p:nvPr>
        </p:nvSpPr>
        <p:spPr>
          <a:xfrm>
            <a:off x="54864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 subtitle that frames the topic for your audience</a:t>
            </a:r>
            <a:endParaRPr lang="en-US" sz="2000" dirty="0"/>
          </a:p>
        </p:txBody>
      </p:sp>
      <p:sp>
        <p:nvSpPr>
          <p:cNvPr id="8" name="Text 3"/>
          <p:cNvSpPr>
            <a:spLocks noGrp="1"/>
          </p:cNvSpPr>
          <p:nvPr>
            <p:ph type="body" idx="11"/>
          </p:nvPr>
        </p:nvSpPr>
        <p:spPr>
          <a:xfrm>
            <a:off x="548640" y="4572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  ·  Role  ·  Date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554480" y="3154680"/>
            <a:ext cx="9601200" cy="7315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9"/>
          <p:cNvSpPr/>
          <p:nvPr/>
        </p:nvSpPr>
        <p:spPr>
          <a:xfrm>
            <a:off x="1554480" y="4023360"/>
            <a:ext cx="9601200" cy="7315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3"/>
          <p:cNvSpPr/>
          <p:nvPr/>
        </p:nvSpPr>
        <p:spPr>
          <a:xfrm>
            <a:off x="1554480" y="4892040"/>
            <a:ext cx="9601200" cy="7315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13" name="Text 1"/>
          <p:cNvSpPr>
            <a:spLocks noGrp="1"/>
          </p:cNvSpPr>
          <p:nvPr>
            <p:ph type="body" idx="10"/>
          </p:nvPr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with a one-line framing of the talk.</a:t>
            </a:r>
            <a:endParaRPr lang="en-US" sz="1400" dirty="0"/>
          </a:p>
        </p:txBody>
      </p:sp>
      <p:sp>
        <p:nvSpPr>
          <p:cNvPr id="14" name="Text 2"/>
          <p:cNvSpPr>
            <a:spLocks noGrp="1"/>
          </p:cNvSpPr>
          <p:nvPr>
            <p:ph type="body" idx="11"/>
          </p:nvPr>
        </p:nvSpPr>
        <p:spPr>
          <a:xfrm>
            <a:off x="54864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5" name="Text 3"/>
          <p:cNvSpPr>
            <a:spLocks noGrp="1"/>
          </p:cNvSpPr>
          <p:nvPr>
            <p:ph type="body" idx="12"/>
          </p:nvPr>
        </p:nvSpPr>
        <p:spPr>
          <a:xfrm>
            <a:off x="15544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16" name="Text 4"/>
          <p:cNvSpPr>
            <a:spLocks noGrp="1"/>
          </p:cNvSpPr>
          <p:nvPr>
            <p:ph type="body" idx="13"/>
          </p:nvPr>
        </p:nvSpPr>
        <p:spPr>
          <a:xfrm>
            <a:off x="15544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17" name="Text 6"/>
          <p:cNvSpPr>
            <a:spLocks noGrp="1"/>
          </p:cNvSpPr>
          <p:nvPr>
            <p:ph type="body" idx="14"/>
          </p:nvPr>
        </p:nvSpPr>
        <p:spPr>
          <a:xfrm>
            <a:off x="548640" y="3246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7"/>
          <p:cNvSpPr>
            <a:spLocks noGrp="1"/>
          </p:cNvSpPr>
          <p:nvPr>
            <p:ph type="body" idx="15"/>
          </p:nvPr>
        </p:nvSpPr>
        <p:spPr>
          <a:xfrm>
            <a:off x="15544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19" name="Text 8"/>
          <p:cNvSpPr>
            <a:spLocks noGrp="1"/>
          </p:cNvSpPr>
          <p:nvPr>
            <p:ph type="body" idx="16"/>
          </p:nvPr>
        </p:nvSpPr>
        <p:spPr>
          <a:xfrm>
            <a:off x="15544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0" name="Text 10"/>
          <p:cNvSpPr>
            <a:spLocks noGrp="1"/>
          </p:cNvSpPr>
          <p:nvPr>
            <p:ph type="body" idx="17"/>
          </p:nvPr>
        </p:nvSpPr>
        <p:spPr>
          <a:xfrm>
            <a:off x="548640" y="4114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1"/>
          <p:cNvSpPr>
            <a:spLocks noGrp="1"/>
          </p:cNvSpPr>
          <p:nvPr>
            <p:ph type="body" idx="18"/>
          </p:nvPr>
        </p:nvSpPr>
        <p:spPr>
          <a:xfrm>
            <a:off x="15544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22" name="Text 12"/>
          <p:cNvSpPr>
            <a:spLocks noGrp="1"/>
          </p:cNvSpPr>
          <p:nvPr>
            <p:ph type="body" idx="19"/>
          </p:nvPr>
        </p:nvSpPr>
        <p:spPr>
          <a:xfrm>
            <a:off x="15544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23" name="Text 14"/>
          <p:cNvSpPr>
            <a:spLocks noGrp="1"/>
          </p:cNvSpPr>
          <p:nvPr>
            <p:ph type="body" idx="20"/>
          </p:nvPr>
        </p:nvSpPr>
        <p:spPr>
          <a:xfrm>
            <a:off x="548640" y="4983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15"/>
          <p:cNvSpPr>
            <a:spLocks noGrp="1"/>
          </p:cNvSpPr>
          <p:nvPr>
            <p:ph type="body" idx="21"/>
          </p:nvPr>
        </p:nvSpPr>
        <p:spPr>
          <a:xfrm>
            <a:off x="155448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Four</a:t>
            </a:r>
            <a:endParaRPr lang="en-US" sz="1800" dirty="0"/>
          </a:p>
        </p:txBody>
      </p:sp>
      <p:sp>
        <p:nvSpPr>
          <p:cNvPr id="25" name="Text 16"/>
          <p:cNvSpPr>
            <a:spLocks noGrp="1"/>
          </p:cNvSpPr>
          <p:nvPr>
            <p:ph type="body" idx="22"/>
          </p:nvPr>
        </p:nvSpPr>
        <p:spPr>
          <a:xfrm>
            <a:off x="15544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">
    <p:bg>
      <p:bgPr>
        <a:solidFill>
          <a:srgbClr val="0E5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852160"/>
            <a:ext cx="548640" cy="54864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0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1"/>
          <p:cNvSpPr>
            <a:spLocks noGrp="1"/>
          </p:cNvSpPr>
          <p:nvPr>
            <p:ph type="body" idx="10"/>
          </p:nvPr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7" name="Text 2"/>
          <p:cNvSpPr>
            <a:spLocks noGrp="1"/>
          </p:cNvSpPr>
          <p:nvPr>
            <p:ph type="body" idx="11"/>
          </p:nvPr>
        </p:nvSpPr>
        <p:spPr>
          <a:xfrm>
            <a:off x="54864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supporting line that previews the section.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and Content Layout</a:t>
            </a:r>
            <a:endParaRPr lang="en-US" sz="3200" dirty="0"/>
          </a:p>
        </p:txBody>
      </p:sp>
      <p:sp>
        <p:nvSpPr>
          <p:cNvPr id="10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for explanatory content with supporting bullet points.</a:t>
            </a:r>
            <a:endParaRPr lang="en-US" sz="1400" dirty="0"/>
          </a:p>
        </p:txBody>
      </p:sp>
      <p:sp>
        <p:nvSpPr>
          <p:cNvPr id="11" name="Text 2"/>
          <p:cNvSpPr>
            <a:spLocks noGrp="1"/>
          </p:cNvSpPr>
          <p:nvPr>
            <p:ph type="body" idx="11"/>
          </p:nvPr>
        </p:nvSpPr>
        <p:spPr>
          <a:xfrm>
            <a:off x="548640" y="219456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keep each line to a single idea so the audience can scan.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short bullets read better than long paragraphs on a slide.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— aim for three to five bullets per slide as a working ceiling.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— sub-points should support, not duplicate, the parent.</a:t>
            </a:r>
            <a:endParaRPr lang="en-US" sz="16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supporting detail under the parent bullet above.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548640" y="2194560"/>
            <a:ext cx="54864" cy="365760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355080" y="2194560"/>
            <a:ext cx="54864" cy="365760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Two-Column Layout</a:t>
            </a:r>
            <a:endParaRPr lang="en-US" sz="3200" dirty="0"/>
          </a:p>
        </p:txBody>
      </p:sp>
      <p:sp>
        <p:nvSpPr>
          <p:cNvPr id="12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ideas side by side, or pair narrative with supporting detail.</a:t>
            </a:r>
            <a:endParaRPr lang="en-US" sz="1400" dirty="0"/>
          </a:p>
        </p:txBody>
      </p:sp>
      <p:sp>
        <p:nvSpPr>
          <p:cNvPr id="13" name="Text 3"/>
          <p:cNvSpPr>
            <a:spLocks noGrp="1"/>
          </p:cNvSpPr>
          <p:nvPr>
            <p:ph type="body" idx="11"/>
          </p:nvPr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One</a:t>
            </a:r>
            <a:endParaRPr lang="en-US" sz="2000" dirty="0"/>
          </a:p>
        </p:txBody>
      </p:sp>
      <p:sp>
        <p:nvSpPr>
          <p:cNvPr id="14" name="Text 4"/>
          <p:cNvSpPr>
            <a:spLocks noGrp="1"/>
          </p:cNvSpPr>
          <p:nvPr>
            <p:ph type="body" idx="12"/>
          </p:nvPr>
        </p:nvSpPr>
        <p:spPr>
          <a:xfrm>
            <a:off x="73152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left-hand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  <p:sp>
        <p:nvSpPr>
          <p:cNvPr id="15" name="Text 6"/>
          <p:cNvSpPr>
            <a:spLocks noGrp="1"/>
          </p:cNvSpPr>
          <p:nvPr>
            <p:ph type="body" idx="13"/>
          </p:nvPr>
        </p:nvSpPr>
        <p:spPr>
          <a:xfrm>
            <a:off x="65379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Two</a:t>
            </a:r>
            <a:endParaRPr lang="en-US" sz="2000" dirty="0"/>
          </a:p>
        </p:txBody>
      </p:sp>
      <p:sp>
        <p:nvSpPr>
          <p:cNvPr id="16" name="Text 7"/>
          <p:cNvSpPr>
            <a:spLocks noGrp="1"/>
          </p:cNvSpPr>
          <p:nvPr>
            <p:ph type="body" idx="14"/>
          </p:nvPr>
        </p:nvSpPr>
        <p:spPr>
          <a:xfrm>
            <a:off x="653796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right-hand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Metr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518008" y="2468880"/>
            <a:ext cx="3566160" cy="3291840"/>
          </a:xfrm>
          <a:prstGeom prst="rect">
            <a:avLst/>
          </a:prstGeom>
          <a:solidFill>
            <a:srgbClr val="F4F6F7"/>
          </a:solidFill>
          <a:ln w="635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518008" y="2468880"/>
            <a:ext cx="3566160" cy="7315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12768" y="2468880"/>
            <a:ext cx="3566160" cy="3291840"/>
          </a:xfrm>
          <a:prstGeom prst="rect">
            <a:avLst/>
          </a:prstGeom>
          <a:solidFill>
            <a:srgbClr val="F4F6F7"/>
          </a:solidFill>
          <a:ln w="635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12768" y="2468880"/>
            <a:ext cx="3566160" cy="73152"/>
          </a:xfrm>
          <a:prstGeom prst="rect">
            <a:avLst/>
          </a:prstGeom>
          <a:solidFill>
            <a:srgbClr val="1F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2"/>
          <p:cNvSpPr/>
          <p:nvPr/>
        </p:nvSpPr>
        <p:spPr>
          <a:xfrm>
            <a:off x="8107528" y="2468880"/>
            <a:ext cx="3566160" cy="3291840"/>
          </a:xfrm>
          <a:prstGeom prst="rect">
            <a:avLst/>
          </a:prstGeom>
          <a:solidFill>
            <a:srgbClr val="F4F6F7"/>
          </a:solidFill>
          <a:ln w="6350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3"/>
          <p:cNvSpPr/>
          <p:nvPr/>
        </p:nvSpPr>
        <p:spPr>
          <a:xfrm>
            <a:off x="8107528" y="2468880"/>
            <a:ext cx="3566160" cy="73152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Layout</a:t>
            </a:r>
            <a:endParaRPr lang="en-US" sz="3200" dirty="0"/>
          </a:p>
        </p:txBody>
      </p:sp>
      <p:sp>
        <p:nvSpPr>
          <p:cNvPr id="16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large stat callouts work well to open or close a section.</a:t>
            </a:r>
            <a:endParaRPr lang="en-US" sz="1400" dirty="0"/>
          </a:p>
        </p:txBody>
      </p:sp>
      <p:sp>
        <p:nvSpPr>
          <p:cNvPr id="17" name="Text 4"/>
          <p:cNvSpPr>
            <a:spLocks noGrp="1"/>
          </p:cNvSpPr>
          <p:nvPr>
            <p:ph type="body" idx="11"/>
          </p:nvPr>
        </p:nvSpPr>
        <p:spPr>
          <a:xfrm>
            <a:off x="79232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6000" dirty="0"/>
          </a:p>
        </p:txBody>
      </p:sp>
      <p:sp>
        <p:nvSpPr>
          <p:cNvPr id="18" name="Text 5"/>
          <p:cNvSpPr>
            <a:spLocks noGrp="1"/>
          </p:cNvSpPr>
          <p:nvPr>
            <p:ph type="body" idx="12"/>
          </p:nvPr>
        </p:nvSpPr>
        <p:spPr>
          <a:xfrm>
            <a:off x="79232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statistic</a:t>
            </a:r>
            <a:endParaRPr lang="en-US" sz="1400" dirty="0"/>
          </a:p>
        </p:txBody>
      </p:sp>
      <p:sp>
        <p:nvSpPr>
          <p:cNvPr id="19" name="Text 6"/>
          <p:cNvSpPr>
            <a:spLocks noGrp="1"/>
          </p:cNvSpPr>
          <p:nvPr>
            <p:ph type="body" idx="13"/>
          </p:nvPr>
        </p:nvSpPr>
        <p:spPr>
          <a:xfrm>
            <a:off x="79232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20" name="Text 9"/>
          <p:cNvSpPr>
            <a:spLocks noGrp="1"/>
          </p:cNvSpPr>
          <p:nvPr>
            <p:ph type="body" idx="14"/>
          </p:nvPr>
        </p:nvSpPr>
        <p:spPr>
          <a:xfrm>
            <a:off x="458708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6000" dirty="0"/>
          </a:p>
        </p:txBody>
      </p:sp>
      <p:sp>
        <p:nvSpPr>
          <p:cNvPr id="21" name="Text 10"/>
          <p:cNvSpPr>
            <a:spLocks noGrp="1"/>
          </p:cNvSpPr>
          <p:nvPr>
            <p:ph type="body" idx="15"/>
          </p:nvPr>
        </p:nvSpPr>
        <p:spPr>
          <a:xfrm>
            <a:off x="458708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400" dirty="0"/>
          </a:p>
        </p:txBody>
      </p:sp>
      <p:sp>
        <p:nvSpPr>
          <p:cNvPr id="22" name="Text 11"/>
          <p:cNvSpPr>
            <a:spLocks noGrp="1"/>
          </p:cNvSpPr>
          <p:nvPr>
            <p:ph type="body" idx="16"/>
          </p:nvPr>
        </p:nvSpPr>
        <p:spPr>
          <a:xfrm>
            <a:off x="458708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23" name="Text 14"/>
          <p:cNvSpPr>
            <a:spLocks noGrp="1"/>
          </p:cNvSpPr>
          <p:nvPr>
            <p:ph type="body" idx="17"/>
          </p:nvPr>
        </p:nvSpPr>
        <p:spPr>
          <a:xfrm>
            <a:off x="838184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6000" dirty="0"/>
          </a:p>
        </p:txBody>
      </p:sp>
      <p:sp>
        <p:nvSpPr>
          <p:cNvPr id="24" name="Text 15"/>
          <p:cNvSpPr>
            <a:spLocks noGrp="1"/>
          </p:cNvSpPr>
          <p:nvPr>
            <p:ph type="body" idx="18"/>
          </p:nvPr>
        </p:nvSpPr>
        <p:spPr>
          <a:xfrm>
            <a:off x="838184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metric</a:t>
            </a:r>
            <a:endParaRPr lang="en-US" sz="1400" dirty="0"/>
          </a:p>
        </p:txBody>
      </p:sp>
      <p:sp>
        <p:nvSpPr>
          <p:cNvPr id="25" name="Text 16"/>
          <p:cNvSpPr>
            <a:spLocks noGrp="1"/>
          </p:cNvSpPr>
          <p:nvPr>
            <p:ph type="body" idx="19"/>
          </p:nvPr>
        </p:nvSpPr>
        <p:spPr>
          <a:xfrm>
            <a:off x="838184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8412480" y="2194560"/>
            <a:ext cx="3200400" cy="402336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8412480" y="2194560"/>
            <a:ext cx="73152" cy="4023360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Layout</a:t>
            </a:r>
            <a:endParaRPr lang="en-US" sz="3200" dirty="0"/>
          </a:p>
        </p:txBody>
      </p:sp>
      <p:sp>
        <p:nvSpPr>
          <p:cNvPr id="12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use the brand palette. Replace data values in the embedded Excel.</a:t>
            </a:r>
            <a:endParaRPr lang="en-US" sz="1400" dirty="0"/>
          </a:p>
        </p:txBody>
      </p:sp>
      <p:sp>
        <p:nvSpPr>
          <p:cNvPr id="13" name="Text 4"/>
          <p:cNvSpPr>
            <a:spLocks noGrp="1"/>
          </p:cNvSpPr>
          <p:nvPr>
            <p:ph type="body" idx="11"/>
          </p:nvPr>
        </p:nvSpPr>
        <p:spPr>
          <a:xfrm>
            <a:off x="864108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4" name="Text 5"/>
          <p:cNvSpPr>
            <a:spLocks noGrp="1"/>
          </p:cNvSpPr>
          <p:nvPr>
            <p:ph type="body" idx="12"/>
          </p:nvPr>
        </p:nvSpPr>
        <p:spPr>
          <a:xfrm>
            <a:off x="8641080" y="274320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this with the single most important insight from the chart — what should the audience walk away knowing?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Layout</a:t>
            </a:r>
            <a:endParaRPr lang="en-US" sz="3200" dirty="0"/>
          </a:p>
        </p:txBody>
      </p:sp>
      <p:sp>
        <p:nvSpPr>
          <p:cNvPr id="10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tables for structured comparisons. Header uses brand primary.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548640" y="23317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72200" y="23317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46520" y="26060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2"/>
          <p:cNvSpPr/>
          <p:nvPr/>
        </p:nvSpPr>
        <p:spPr>
          <a:xfrm>
            <a:off x="548640" y="43891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3"/>
          <p:cNvSpPr/>
          <p:nvPr/>
        </p:nvSpPr>
        <p:spPr>
          <a:xfrm>
            <a:off x="822960" y="46634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7"/>
          <p:cNvSpPr/>
          <p:nvPr/>
        </p:nvSpPr>
        <p:spPr>
          <a:xfrm>
            <a:off x="6172200" y="4389120"/>
            <a:ext cx="5440680" cy="187452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8"/>
          <p:cNvSpPr/>
          <p:nvPr/>
        </p:nvSpPr>
        <p:spPr>
          <a:xfrm>
            <a:off x="6446520" y="4663440"/>
            <a:ext cx="640080" cy="64008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Four-Up Layout</a:t>
            </a:r>
            <a:endParaRPr lang="en-US" sz="3200" dirty="0"/>
          </a:p>
        </p:txBody>
      </p:sp>
      <p:sp>
        <p:nvSpPr>
          <p:cNvPr id="18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service offerings, capabilities, or a set of related concepts.</a:t>
            </a:r>
            <a:endParaRPr lang="en-US" sz="1400" dirty="0"/>
          </a:p>
        </p:txBody>
      </p:sp>
      <p:sp>
        <p:nvSpPr>
          <p:cNvPr id="19" name="Text 4"/>
          <p:cNvSpPr>
            <a:spLocks noGrp="1"/>
          </p:cNvSpPr>
          <p:nvPr>
            <p:ph type="body" idx="11"/>
          </p:nvPr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5"/>
          <p:cNvSpPr>
            <a:spLocks noGrp="1"/>
          </p:cNvSpPr>
          <p:nvPr>
            <p:ph type="body" idx="12"/>
          </p:nvPr>
        </p:nvSpPr>
        <p:spPr>
          <a:xfrm>
            <a:off x="160020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One</a:t>
            </a:r>
            <a:endParaRPr lang="en-US" sz="2000" dirty="0"/>
          </a:p>
        </p:txBody>
      </p:sp>
      <p:sp>
        <p:nvSpPr>
          <p:cNvPr id="21" name="Text 6"/>
          <p:cNvSpPr>
            <a:spLocks noGrp="1"/>
          </p:cNvSpPr>
          <p:nvPr>
            <p:ph type="body" idx="13"/>
          </p:nvPr>
        </p:nvSpPr>
        <p:spPr>
          <a:xfrm>
            <a:off x="160020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22" name="Text 9"/>
          <p:cNvSpPr>
            <a:spLocks noGrp="1"/>
          </p:cNvSpPr>
          <p:nvPr>
            <p:ph type="body" idx="14"/>
          </p:nvPr>
        </p:nvSpPr>
        <p:spPr>
          <a:xfrm>
            <a:off x="6446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0"/>
          <p:cNvSpPr>
            <a:spLocks noGrp="1"/>
          </p:cNvSpPr>
          <p:nvPr>
            <p:ph type="body" idx="15"/>
          </p:nvPr>
        </p:nvSpPr>
        <p:spPr>
          <a:xfrm>
            <a:off x="722376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Two</a:t>
            </a:r>
            <a:endParaRPr lang="en-US" sz="2000" dirty="0"/>
          </a:p>
        </p:txBody>
      </p:sp>
      <p:sp>
        <p:nvSpPr>
          <p:cNvPr id="24" name="Text 11"/>
          <p:cNvSpPr>
            <a:spLocks noGrp="1"/>
          </p:cNvSpPr>
          <p:nvPr>
            <p:ph type="body" idx="16"/>
          </p:nvPr>
        </p:nvSpPr>
        <p:spPr>
          <a:xfrm>
            <a:off x="722376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25" name="Text 14"/>
          <p:cNvSpPr>
            <a:spLocks noGrp="1"/>
          </p:cNvSpPr>
          <p:nvPr>
            <p:ph type="body" idx="17"/>
          </p:nvPr>
        </p:nvSpPr>
        <p:spPr>
          <a:xfrm>
            <a:off x="8229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5"/>
          <p:cNvSpPr>
            <a:spLocks noGrp="1"/>
          </p:cNvSpPr>
          <p:nvPr>
            <p:ph type="body" idx="18"/>
          </p:nvPr>
        </p:nvSpPr>
        <p:spPr>
          <a:xfrm>
            <a:off x="160020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Three</a:t>
            </a:r>
            <a:endParaRPr lang="en-US" sz="2000" dirty="0"/>
          </a:p>
        </p:txBody>
      </p:sp>
      <p:sp>
        <p:nvSpPr>
          <p:cNvPr id="27" name="Text 16"/>
          <p:cNvSpPr>
            <a:spLocks noGrp="1"/>
          </p:cNvSpPr>
          <p:nvPr>
            <p:ph type="body" idx="19"/>
          </p:nvPr>
        </p:nvSpPr>
        <p:spPr>
          <a:xfrm>
            <a:off x="160020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28" name="Text 19"/>
          <p:cNvSpPr>
            <a:spLocks noGrp="1"/>
          </p:cNvSpPr>
          <p:nvPr>
            <p:ph type="body" idx="20"/>
          </p:nvPr>
        </p:nvSpPr>
        <p:spPr>
          <a:xfrm>
            <a:off x="64465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0"/>
          <p:cNvSpPr>
            <a:spLocks noGrp="1"/>
          </p:cNvSpPr>
          <p:nvPr>
            <p:ph type="body" idx="21"/>
          </p:nvPr>
        </p:nvSpPr>
        <p:spPr>
          <a:xfrm>
            <a:off x="722376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Four</a:t>
            </a:r>
            <a:endParaRPr lang="en-US" sz="2000" dirty="0"/>
          </a:p>
        </p:txBody>
      </p:sp>
      <p:sp>
        <p:nvSpPr>
          <p:cNvPr id="30" name="Text 21"/>
          <p:cNvSpPr>
            <a:spLocks noGrp="1"/>
          </p:cNvSpPr>
          <p:nvPr>
            <p:ph type="body" idx="22"/>
          </p:nvPr>
        </p:nvSpPr>
        <p:spPr>
          <a:xfrm>
            <a:off x="722376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c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1112368" y="3474720"/>
            <a:ext cx="9966960" cy="36576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1158088" y="3017520"/>
            <a:ext cx="914400" cy="914400"/>
          </a:xfrm>
          <a:prstGeom prst="ellipse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39836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1"/>
          <p:cNvSpPr/>
          <p:nvPr/>
        </p:nvSpPr>
        <p:spPr>
          <a:xfrm>
            <a:off x="563864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5"/>
          <p:cNvSpPr/>
          <p:nvPr/>
        </p:nvSpPr>
        <p:spPr>
          <a:xfrm>
            <a:off x="787892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9"/>
          <p:cNvSpPr/>
          <p:nvPr/>
        </p:nvSpPr>
        <p:spPr>
          <a:xfrm>
            <a:off x="10119208" y="3017520"/>
            <a:ext cx="914400" cy="914400"/>
          </a:xfrm>
          <a:prstGeom prst="ellipse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Layout</a:t>
            </a:r>
            <a:endParaRPr lang="en-US" sz="3200" dirty="0"/>
          </a:p>
        </p:txBody>
      </p:sp>
      <p:sp>
        <p:nvSpPr>
          <p:cNvPr id="16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sequence — works for methodology, phases, or a customer journey.</a:t>
            </a:r>
            <a:endParaRPr lang="en-US" sz="1400" dirty="0"/>
          </a:p>
        </p:txBody>
      </p:sp>
      <p:sp>
        <p:nvSpPr>
          <p:cNvPr id="17" name="Text 4"/>
          <p:cNvSpPr>
            <a:spLocks noGrp="1"/>
          </p:cNvSpPr>
          <p:nvPr>
            <p:ph type="body" idx="11"/>
          </p:nvPr>
        </p:nvSpPr>
        <p:spPr>
          <a:xfrm>
            <a:off x="115808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5"/>
          <p:cNvSpPr>
            <a:spLocks noGrp="1"/>
          </p:cNvSpPr>
          <p:nvPr>
            <p:ph type="body" idx="12"/>
          </p:nvPr>
        </p:nvSpPr>
        <p:spPr>
          <a:xfrm>
            <a:off x="56372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9" name="Text 6"/>
          <p:cNvSpPr>
            <a:spLocks noGrp="1"/>
          </p:cNvSpPr>
          <p:nvPr>
            <p:ph type="body" idx="13"/>
          </p:nvPr>
        </p:nvSpPr>
        <p:spPr>
          <a:xfrm>
            <a:off x="60944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context and constraints.</a:t>
            </a:r>
            <a:endParaRPr lang="en-US" sz="1100" dirty="0"/>
          </a:p>
        </p:txBody>
      </p:sp>
      <p:sp>
        <p:nvSpPr>
          <p:cNvPr id="20" name="Text 8"/>
          <p:cNvSpPr>
            <a:spLocks noGrp="1"/>
          </p:cNvSpPr>
          <p:nvPr>
            <p:ph type="body" idx="14"/>
          </p:nvPr>
        </p:nvSpPr>
        <p:spPr>
          <a:xfrm>
            <a:off x="339836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9"/>
          <p:cNvSpPr>
            <a:spLocks noGrp="1"/>
          </p:cNvSpPr>
          <p:nvPr>
            <p:ph type="body" idx="15"/>
          </p:nvPr>
        </p:nvSpPr>
        <p:spPr>
          <a:xfrm>
            <a:off x="280400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600" dirty="0"/>
          </a:p>
        </p:txBody>
      </p:sp>
      <p:sp>
        <p:nvSpPr>
          <p:cNvPr id="22" name="Text 10"/>
          <p:cNvSpPr>
            <a:spLocks noGrp="1"/>
          </p:cNvSpPr>
          <p:nvPr>
            <p:ph type="body" idx="16"/>
          </p:nvPr>
        </p:nvSpPr>
        <p:spPr>
          <a:xfrm>
            <a:off x="284972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and success criteria.</a:t>
            </a:r>
            <a:endParaRPr lang="en-US" sz="1100" dirty="0"/>
          </a:p>
        </p:txBody>
      </p:sp>
      <p:sp>
        <p:nvSpPr>
          <p:cNvPr id="23" name="Text 12"/>
          <p:cNvSpPr>
            <a:spLocks noGrp="1"/>
          </p:cNvSpPr>
          <p:nvPr>
            <p:ph type="body" idx="17"/>
          </p:nvPr>
        </p:nvSpPr>
        <p:spPr>
          <a:xfrm>
            <a:off x="563864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13"/>
          <p:cNvSpPr>
            <a:spLocks noGrp="1"/>
          </p:cNvSpPr>
          <p:nvPr>
            <p:ph type="body" idx="18"/>
          </p:nvPr>
        </p:nvSpPr>
        <p:spPr>
          <a:xfrm>
            <a:off x="504428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600" dirty="0"/>
          </a:p>
        </p:txBody>
      </p:sp>
      <p:sp>
        <p:nvSpPr>
          <p:cNvPr id="25" name="Text 14"/>
          <p:cNvSpPr>
            <a:spLocks noGrp="1"/>
          </p:cNvSpPr>
          <p:nvPr>
            <p:ph type="body" idx="19"/>
          </p:nvPr>
        </p:nvSpPr>
        <p:spPr>
          <a:xfrm>
            <a:off x="509000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options and select an approach.</a:t>
            </a:r>
            <a:endParaRPr lang="en-US" sz="1100" dirty="0"/>
          </a:p>
        </p:txBody>
      </p:sp>
      <p:sp>
        <p:nvSpPr>
          <p:cNvPr id="26" name="Text 16"/>
          <p:cNvSpPr>
            <a:spLocks noGrp="1"/>
          </p:cNvSpPr>
          <p:nvPr>
            <p:ph type="body" idx="20"/>
          </p:nvPr>
        </p:nvSpPr>
        <p:spPr>
          <a:xfrm>
            <a:off x="787892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17"/>
          <p:cNvSpPr>
            <a:spLocks noGrp="1"/>
          </p:cNvSpPr>
          <p:nvPr>
            <p:ph type="body" idx="21"/>
          </p:nvPr>
        </p:nvSpPr>
        <p:spPr>
          <a:xfrm>
            <a:off x="728456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28" name="Text 18"/>
          <p:cNvSpPr>
            <a:spLocks noGrp="1"/>
          </p:cNvSpPr>
          <p:nvPr>
            <p:ph type="body" idx="22"/>
          </p:nvPr>
        </p:nvSpPr>
        <p:spPr>
          <a:xfrm>
            <a:off x="733028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discipline and feedback.</a:t>
            </a:r>
            <a:endParaRPr lang="en-US" sz="1100" dirty="0"/>
          </a:p>
        </p:txBody>
      </p:sp>
      <p:sp>
        <p:nvSpPr>
          <p:cNvPr id="29" name="Text 20"/>
          <p:cNvSpPr>
            <a:spLocks noGrp="1"/>
          </p:cNvSpPr>
          <p:nvPr>
            <p:ph type="body" idx="23"/>
          </p:nvPr>
        </p:nvSpPr>
        <p:spPr>
          <a:xfrm>
            <a:off x="1011920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1"/>
          <p:cNvSpPr>
            <a:spLocks noGrp="1"/>
          </p:cNvSpPr>
          <p:nvPr>
            <p:ph type="body" idx="24"/>
          </p:nvPr>
        </p:nvSpPr>
        <p:spPr>
          <a:xfrm>
            <a:off x="952484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</a:t>
            </a:r>
            <a:endParaRPr lang="en-US" sz="1600" dirty="0"/>
          </a:p>
        </p:txBody>
      </p:sp>
      <p:sp>
        <p:nvSpPr>
          <p:cNvPr id="31" name="Text 22"/>
          <p:cNvSpPr>
            <a:spLocks noGrp="1"/>
          </p:cNvSpPr>
          <p:nvPr>
            <p:ph type="body" idx="25"/>
          </p:nvPr>
        </p:nvSpPr>
        <p:spPr>
          <a:xfrm>
            <a:off x="957056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measure, and refine over time.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2194560" y="4480560"/>
            <a:ext cx="548640" cy="36576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0"/>
          <p:cNvSpPr>
            <a:spLocks noGrp="1"/>
          </p:cNvSpPr>
          <p:nvPr>
            <p:ph type="title"/>
          </p:nvPr>
        </p:nvSpPr>
        <p:spPr>
          <a:xfrm>
            <a:off x="54864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11" name="Text 1"/>
          <p:cNvSpPr>
            <a:spLocks noGrp="1"/>
          </p:cNvSpPr>
          <p:nvPr>
            <p:ph type="body" idx="10"/>
          </p:nvPr>
        </p:nvSpPr>
        <p:spPr>
          <a:xfrm>
            <a:off x="2194560" y="18288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a pull quote, customer testimonial, or guiding principle here. Keep it under twenty-five words for visual impact.</a:t>
            </a:r>
            <a:endParaRPr lang="en-US" sz="2600" dirty="0"/>
          </a:p>
        </p:txBody>
      </p:sp>
      <p:sp>
        <p:nvSpPr>
          <p:cNvPr id="12" name="Text 3"/>
          <p:cNvSpPr>
            <a:spLocks noGrp="1"/>
          </p:cNvSpPr>
          <p:nvPr>
            <p:ph type="body" idx="11"/>
          </p:nvPr>
        </p:nvSpPr>
        <p:spPr>
          <a:xfrm>
            <a:off x="2194560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Name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Organization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 / Thank You">
    <p:bg>
      <p:bgPr>
        <a:solidFill>
          <a:srgbClr val="0A4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gamut/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94560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703320"/>
            <a:ext cx="914400" cy="45720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2"/>
          <p:cNvSpPr>
            <a:spLocks noGrp="1"/>
          </p:cNvSpPr>
          <p:nvPr>
            <p:ph type="body" idx="10"/>
          </p:nvPr>
        </p:nvSpPr>
        <p:spPr>
          <a:xfrm>
            <a:off x="548640" y="4023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follow-up: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name@gamutservices.com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rand Refer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724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6446520"/>
            <a:ext cx="11094415" cy="10973"/>
          </a:xfrm>
          <a:prstGeom prst="rect">
            <a:avLst/>
          </a:prstGeom>
          <a:solidFill>
            <a:srgbClr val="D6DE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 Services  ·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19695" y="6510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9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548640" y="2560320"/>
            <a:ext cx="914400" cy="914400"/>
          </a:xfrm>
          <a:prstGeom prst="rect">
            <a:avLst/>
          </a:prstGeom>
          <a:solidFill>
            <a:srgbClr val="0E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600200" y="2560320"/>
            <a:ext cx="914400" cy="914400"/>
          </a:xfrm>
          <a:prstGeom prst="rect">
            <a:avLst/>
          </a:prstGeom>
          <a:solidFill>
            <a:srgbClr val="0A44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2560320"/>
            <a:ext cx="914400" cy="914400"/>
          </a:xfrm>
          <a:prstGeom prst="rect">
            <a:avLst/>
          </a:prstGeom>
          <a:solidFill>
            <a:srgbClr val="1F8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3703320" y="2560320"/>
            <a:ext cx="914400" cy="914400"/>
          </a:xfrm>
          <a:prstGeom prst="rect">
            <a:avLst/>
          </a:prstGeom>
          <a:solidFill>
            <a:srgbClr val="C97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5"/>
          <p:cNvSpPr/>
          <p:nvPr/>
        </p:nvSpPr>
        <p:spPr>
          <a:xfrm>
            <a:off x="4754880" y="2560320"/>
            <a:ext cx="914400" cy="914400"/>
          </a:xfrm>
          <a:prstGeom prst="rect">
            <a:avLst/>
          </a:prstGeom>
          <a:solidFill>
            <a:srgbClr val="1A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8"/>
          <p:cNvSpPr/>
          <p:nvPr/>
        </p:nvSpPr>
        <p:spPr>
          <a:xfrm>
            <a:off x="5806440" y="2560320"/>
            <a:ext cx="914400" cy="914400"/>
          </a:xfrm>
          <a:prstGeom prst="rect">
            <a:avLst/>
          </a:prstGeom>
          <a:solidFill>
            <a:srgbClr val="5A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Reference</a:t>
            </a:r>
            <a:endParaRPr lang="en-US" sz="3200" dirty="0"/>
          </a:p>
        </p:txBody>
      </p:sp>
      <p:sp>
        <p:nvSpPr>
          <p:cNvPr id="16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the design system used by this template.</a:t>
            </a:r>
            <a:endParaRPr lang="en-US" sz="1400" dirty="0"/>
          </a:p>
        </p:txBody>
      </p:sp>
      <p:sp>
        <p:nvSpPr>
          <p:cNvPr id="17" name="Text 2"/>
          <p:cNvSpPr>
            <a:spLocks noGrp="1"/>
          </p:cNvSpPr>
          <p:nvPr>
            <p:ph type="body" idx="11"/>
          </p:nvPr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18" name="Text 4"/>
          <p:cNvSpPr>
            <a:spLocks noGrp="1"/>
          </p:cNvSpPr>
          <p:nvPr>
            <p:ph type="body" idx="12"/>
          </p:nvPr>
        </p:nvSpPr>
        <p:spPr>
          <a:xfrm>
            <a:off x="5486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9" name="Text 5"/>
          <p:cNvSpPr>
            <a:spLocks noGrp="1"/>
          </p:cNvSpPr>
          <p:nvPr>
            <p:ph type="body" idx="13"/>
          </p:nvPr>
        </p:nvSpPr>
        <p:spPr>
          <a:xfrm>
            <a:off x="5486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#0E5A66</a:t>
            </a:r>
            <a:endParaRPr lang="en-US" sz="900" dirty="0"/>
          </a:p>
        </p:txBody>
      </p:sp>
      <p:sp>
        <p:nvSpPr>
          <p:cNvPr id="20" name="Text 7"/>
          <p:cNvSpPr>
            <a:spLocks noGrp="1"/>
          </p:cNvSpPr>
          <p:nvPr>
            <p:ph type="body" idx="14"/>
          </p:nvPr>
        </p:nvSpPr>
        <p:spPr>
          <a:xfrm>
            <a:off x="1600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Dk</a:t>
            </a:r>
            <a:endParaRPr lang="en-US" sz="1000" dirty="0"/>
          </a:p>
        </p:txBody>
      </p:sp>
      <p:sp>
        <p:nvSpPr>
          <p:cNvPr id="21" name="Text 8"/>
          <p:cNvSpPr>
            <a:spLocks noGrp="1"/>
          </p:cNvSpPr>
          <p:nvPr>
            <p:ph type="body" idx="15"/>
          </p:nvPr>
        </p:nvSpPr>
        <p:spPr>
          <a:xfrm>
            <a:off x="160020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#0A444E</a:t>
            </a:r>
            <a:endParaRPr lang="en-US" sz="900" dirty="0"/>
          </a:p>
        </p:txBody>
      </p:sp>
      <p:sp>
        <p:nvSpPr>
          <p:cNvPr id="22" name="Text 10"/>
          <p:cNvSpPr>
            <a:spLocks noGrp="1"/>
          </p:cNvSpPr>
          <p:nvPr>
            <p:ph type="body" idx="16"/>
          </p:nvPr>
        </p:nvSpPr>
        <p:spPr>
          <a:xfrm>
            <a:off x="265176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3" name="Text 11"/>
          <p:cNvSpPr>
            <a:spLocks noGrp="1"/>
          </p:cNvSpPr>
          <p:nvPr>
            <p:ph type="body" idx="17"/>
          </p:nvPr>
        </p:nvSpPr>
        <p:spPr>
          <a:xfrm>
            <a:off x="265176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#1F8A99</a:t>
            </a:r>
            <a:endParaRPr lang="en-US" sz="900" dirty="0"/>
          </a:p>
        </p:txBody>
      </p:sp>
      <p:sp>
        <p:nvSpPr>
          <p:cNvPr id="24" name="Text 13"/>
          <p:cNvSpPr>
            <a:spLocks noGrp="1"/>
          </p:cNvSpPr>
          <p:nvPr>
            <p:ph type="body" idx="18"/>
          </p:nvPr>
        </p:nvSpPr>
        <p:spPr>
          <a:xfrm>
            <a:off x="370332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25" name="Text 14"/>
          <p:cNvSpPr>
            <a:spLocks noGrp="1"/>
          </p:cNvSpPr>
          <p:nvPr>
            <p:ph type="body" idx="19"/>
          </p:nvPr>
        </p:nvSpPr>
        <p:spPr>
          <a:xfrm>
            <a:off x="370332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#C97B3C</a:t>
            </a:r>
            <a:endParaRPr lang="en-US" sz="900" dirty="0"/>
          </a:p>
        </p:txBody>
      </p:sp>
      <p:sp>
        <p:nvSpPr>
          <p:cNvPr id="26" name="Text 16"/>
          <p:cNvSpPr>
            <a:spLocks noGrp="1"/>
          </p:cNvSpPr>
          <p:nvPr>
            <p:ph type="body" idx="20"/>
          </p:nvPr>
        </p:nvSpPr>
        <p:spPr>
          <a:xfrm>
            <a:off x="475488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00" dirty="0"/>
          </a:p>
        </p:txBody>
      </p:sp>
      <p:sp>
        <p:nvSpPr>
          <p:cNvPr id="27" name="Text 17"/>
          <p:cNvSpPr>
            <a:spLocks noGrp="1"/>
          </p:cNvSpPr>
          <p:nvPr>
            <p:ph type="body" idx="21"/>
          </p:nvPr>
        </p:nvSpPr>
        <p:spPr>
          <a:xfrm>
            <a:off x="475488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#1A2A33</a:t>
            </a:r>
            <a:endParaRPr lang="en-US" sz="900" dirty="0"/>
          </a:p>
        </p:txBody>
      </p:sp>
      <p:sp>
        <p:nvSpPr>
          <p:cNvPr id="28" name="Text 19"/>
          <p:cNvSpPr>
            <a:spLocks noGrp="1"/>
          </p:cNvSpPr>
          <p:nvPr>
            <p:ph type="body" idx="22"/>
          </p:nvPr>
        </p:nvSpPr>
        <p:spPr>
          <a:xfrm>
            <a:off x="58064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000" dirty="0"/>
          </a:p>
        </p:txBody>
      </p:sp>
      <p:sp>
        <p:nvSpPr>
          <p:cNvPr id="29" name="Text 20"/>
          <p:cNvSpPr>
            <a:spLocks noGrp="1"/>
          </p:cNvSpPr>
          <p:nvPr>
            <p:ph type="body" idx="23"/>
          </p:nvPr>
        </p:nvSpPr>
        <p:spPr>
          <a:xfrm>
            <a:off x="58064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#5A6B73</a:t>
            </a:r>
            <a:endParaRPr lang="en-US" sz="900" dirty="0"/>
          </a:p>
        </p:txBody>
      </p:sp>
      <p:sp>
        <p:nvSpPr>
          <p:cNvPr id="30" name="Text 21"/>
          <p:cNvSpPr>
            <a:spLocks noGrp="1"/>
          </p:cNvSpPr>
          <p:nvPr>
            <p:ph type="body" idx="24"/>
          </p:nvPr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1" name="Text 22"/>
          <p:cNvSpPr>
            <a:spLocks noGrp="1"/>
          </p:cNvSpPr>
          <p:nvPr>
            <p:ph type="body" idx="25"/>
          </p:nvPr>
        </p:nvSpPr>
        <p:spPr>
          <a:xfrm>
            <a:off x="548640" y="4617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— Georgia Bold</a:t>
            </a:r>
            <a:endParaRPr lang="en-US" sz="2800" dirty="0"/>
          </a:p>
        </p:txBody>
      </p:sp>
      <p:sp>
        <p:nvSpPr>
          <p:cNvPr id="32" name="Text 23"/>
          <p:cNvSpPr>
            <a:spLocks noGrp="1"/>
          </p:cNvSpPr>
          <p:nvPr>
            <p:ph type="body" idx="26"/>
          </p:nvPr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Regular. Used for paragraphs, bullet points, captions, and table content throughout the deck.</a:t>
            </a:r>
            <a:endParaRPr lang="en-US" sz="1400" dirty="0"/>
          </a:p>
        </p:txBody>
      </p:sp>
      <p:sp>
        <p:nvSpPr>
          <p:cNvPr id="33" name="Text 24"/>
          <p:cNvSpPr>
            <a:spLocks noGrp="1"/>
          </p:cNvSpPr>
          <p:nvPr>
            <p:ph type="body" idx="27"/>
          </p:nvPr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EYEBROW — CALIBRI BOLD, TRACKED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3015" y="6510528"/>
            <a:ext cx="3200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descriptive subtitle that frames the topic for your audience</a:t>
            </a:r>
            <a:endParaRPr lang="en-US" sz="2000" dirty="0"/>
          </a:p>
        </p:txBody>
      </p:sp>
      <p:sp>
        <p:nvSpPr>
          <p:cNvPr id="5" name="Text 3"/>
          <p:cNvSpPr>
            <a:spLocks noGrp="1"/>
          </p:cNvSpPr>
          <p:nvPr>
            <p:ph type="body" idx="11"/>
          </p:nvPr>
        </p:nvSpPr>
        <p:spPr>
          <a:xfrm>
            <a:off x="548640" y="4572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  ·  Role  ·  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with a one-line framing of the talk.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>
            <a:spLocks noGrp="1"/>
          </p:cNvSpPr>
          <p:nvPr>
            <p:ph type="body" idx="12"/>
          </p:nvPr>
        </p:nvSpPr>
        <p:spPr>
          <a:xfrm>
            <a:off x="15544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7" name="Text 4"/>
          <p:cNvSpPr>
            <a:spLocks noGrp="1"/>
          </p:cNvSpPr>
          <p:nvPr>
            <p:ph type="body" idx="13"/>
          </p:nvPr>
        </p:nvSpPr>
        <p:spPr>
          <a:xfrm>
            <a:off x="155448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8" name="Text 6"/>
          <p:cNvSpPr>
            <a:spLocks noGrp="1"/>
          </p:cNvSpPr>
          <p:nvPr>
            <p:ph type="body" idx="14"/>
          </p:nvPr>
        </p:nvSpPr>
        <p:spPr>
          <a:xfrm>
            <a:off x="548640" y="3246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>
            <a:spLocks noGrp="1"/>
          </p:cNvSpPr>
          <p:nvPr>
            <p:ph type="body" idx="15"/>
          </p:nvPr>
        </p:nvSpPr>
        <p:spPr>
          <a:xfrm>
            <a:off x="15544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10" name="Text 8"/>
          <p:cNvSpPr>
            <a:spLocks noGrp="1"/>
          </p:cNvSpPr>
          <p:nvPr>
            <p:ph type="body" idx="16"/>
          </p:nvPr>
        </p:nvSpPr>
        <p:spPr>
          <a:xfrm>
            <a:off x="15544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11" name="Text 10"/>
          <p:cNvSpPr>
            <a:spLocks noGrp="1"/>
          </p:cNvSpPr>
          <p:nvPr>
            <p:ph type="body" idx="17"/>
          </p:nvPr>
        </p:nvSpPr>
        <p:spPr>
          <a:xfrm>
            <a:off x="548640" y="4114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1"/>
          <p:cNvSpPr>
            <a:spLocks noGrp="1"/>
          </p:cNvSpPr>
          <p:nvPr>
            <p:ph type="body" idx="18"/>
          </p:nvPr>
        </p:nvSpPr>
        <p:spPr>
          <a:xfrm>
            <a:off x="15544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13" name="Text 12"/>
          <p:cNvSpPr>
            <a:spLocks noGrp="1"/>
          </p:cNvSpPr>
          <p:nvPr>
            <p:ph type="body" idx="19"/>
          </p:nvPr>
        </p:nvSpPr>
        <p:spPr>
          <a:xfrm>
            <a:off x="15544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  <p:sp>
        <p:nvSpPr>
          <p:cNvPr id="14" name="Text 14"/>
          <p:cNvSpPr>
            <a:spLocks noGrp="1"/>
          </p:cNvSpPr>
          <p:nvPr>
            <p:ph type="body" idx="20"/>
          </p:nvPr>
        </p:nvSpPr>
        <p:spPr>
          <a:xfrm>
            <a:off x="548640" y="4983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5"/>
          <p:cNvSpPr>
            <a:spLocks noGrp="1"/>
          </p:cNvSpPr>
          <p:nvPr>
            <p:ph type="body" idx="21"/>
          </p:nvPr>
        </p:nvSpPr>
        <p:spPr>
          <a:xfrm>
            <a:off x="155448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Four</a:t>
            </a:r>
            <a:endParaRPr lang="en-US" sz="1800" dirty="0"/>
          </a:p>
        </p:txBody>
      </p:sp>
      <p:sp>
        <p:nvSpPr>
          <p:cNvPr id="16" name="Text 16"/>
          <p:cNvSpPr>
            <a:spLocks noGrp="1"/>
          </p:cNvSpPr>
          <p:nvPr>
            <p:ph type="body" idx="22"/>
          </p:nvPr>
        </p:nvSpPr>
        <p:spPr>
          <a:xfrm>
            <a:off x="15544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what this section covers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97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supporting line that previews the section.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and Content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for explanatory content with supporting bullet points.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219456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— keep each line to a single idea so the audience can scan.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key point — short bullets read better than long paragraphs on a slide.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key point — aim for three to five bullets per slide as a working ceiling.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key point — sub-points should support, not duplicate, the parent.</a:t>
            </a:r>
            <a:endParaRPr lang="en-US" sz="16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supporting detail under the parent bullet above.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Two-Column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ideas side by side, or pair narrative with supporting detail.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body" idx="11"/>
          </p:nvPr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One</a:t>
            </a:r>
            <a:endParaRPr lang="en-US" sz="2000" dirty="0"/>
          </a:p>
        </p:txBody>
      </p:sp>
      <p:sp>
        <p:nvSpPr>
          <p:cNvPr id="6" name="Text 4"/>
          <p:cNvSpPr>
            <a:spLocks noGrp="1"/>
          </p:cNvSpPr>
          <p:nvPr>
            <p:ph type="body" idx="12"/>
          </p:nvPr>
        </p:nvSpPr>
        <p:spPr>
          <a:xfrm>
            <a:off x="73152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left-hand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65379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Two</a:t>
            </a:r>
            <a:endParaRPr lang="en-US" sz="2000" dirty="0"/>
          </a:p>
        </p:txBody>
      </p:sp>
      <p:sp>
        <p:nvSpPr>
          <p:cNvPr id="8" name="Text 7"/>
          <p:cNvSpPr>
            <a:spLocks noGrp="1"/>
          </p:cNvSpPr>
          <p:nvPr>
            <p:ph type="body" idx="14"/>
          </p:nvPr>
        </p:nvSpPr>
        <p:spPr>
          <a:xfrm>
            <a:off x="6537960" y="2697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framing paragraph that introduces the right-hand topic.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one.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point three.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large stat callouts work well to open or close a section.</a:t>
            </a:r>
            <a:endParaRPr lang="en-US" sz="1400" dirty="0"/>
          </a:p>
        </p:txBody>
      </p:sp>
      <p:sp>
        <p:nvSpPr>
          <p:cNvPr id="5" name="Text 4"/>
          <p:cNvSpPr>
            <a:spLocks noGrp="1"/>
          </p:cNvSpPr>
          <p:nvPr>
            <p:ph type="body" idx="11"/>
          </p:nvPr>
        </p:nvSpPr>
        <p:spPr>
          <a:xfrm>
            <a:off x="79232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6000" dirty="0"/>
          </a:p>
        </p:txBody>
      </p:sp>
      <p:sp>
        <p:nvSpPr>
          <p:cNvPr id="6" name="Text 5"/>
          <p:cNvSpPr>
            <a:spLocks noGrp="1"/>
          </p:cNvSpPr>
          <p:nvPr>
            <p:ph type="body" idx="12"/>
          </p:nvPr>
        </p:nvSpPr>
        <p:spPr>
          <a:xfrm>
            <a:off x="79232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statistic</a:t>
            </a:r>
            <a:endParaRPr lang="en-US" sz="14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79232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8" name="Text 9"/>
          <p:cNvSpPr>
            <a:spLocks noGrp="1"/>
          </p:cNvSpPr>
          <p:nvPr>
            <p:ph type="body" idx="14"/>
          </p:nvPr>
        </p:nvSpPr>
        <p:spPr>
          <a:xfrm>
            <a:off x="458708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</a:t>
            </a:r>
            <a:endParaRPr lang="en-US" sz="6000" dirty="0"/>
          </a:p>
        </p:txBody>
      </p:sp>
      <p:sp>
        <p:nvSpPr>
          <p:cNvPr id="9" name="Text 10"/>
          <p:cNvSpPr>
            <a:spLocks noGrp="1"/>
          </p:cNvSpPr>
          <p:nvPr>
            <p:ph type="body" idx="15"/>
          </p:nvPr>
        </p:nvSpPr>
        <p:spPr>
          <a:xfrm>
            <a:off x="458708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</a:t>
            </a:r>
            <a:endParaRPr lang="en-US" sz="1400" dirty="0"/>
          </a:p>
        </p:txBody>
      </p:sp>
      <p:sp>
        <p:nvSpPr>
          <p:cNvPr id="10" name="Text 11"/>
          <p:cNvSpPr>
            <a:spLocks noGrp="1"/>
          </p:cNvSpPr>
          <p:nvPr>
            <p:ph type="body" idx="16"/>
          </p:nvPr>
        </p:nvSpPr>
        <p:spPr>
          <a:xfrm>
            <a:off x="458708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  <p:sp>
        <p:nvSpPr>
          <p:cNvPr id="11" name="Text 14"/>
          <p:cNvSpPr>
            <a:spLocks noGrp="1"/>
          </p:cNvSpPr>
          <p:nvPr>
            <p:ph type="body" idx="17"/>
          </p:nvPr>
        </p:nvSpPr>
        <p:spPr>
          <a:xfrm>
            <a:off x="8381848" y="2743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6000" dirty="0"/>
          </a:p>
        </p:txBody>
      </p:sp>
      <p:sp>
        <p:nvSpPr>
          <p:cNvPr id="12" name="Text 15"/>
          <p:cNvSpPr>
            <a:spLocks noGrp="1"/>
          </p:cNvSpPr>
          <p:nvPr>
            <p:ph type="body" idx="18"/>
          </p:nvPr>
        </p:nvSpPr>
        <p:spPr>
          <a:xfrm>
            <a:off x="8381848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metric</a:t>
            </a:r>
            <a:endParaRPr lang="en-US" sz="1400" dirty="0"/>
          </a:p>
        </p:txBody>
      </p:sp>
      <p:sp>
        <p:nvSpPr>
          <p:cNvPr id="13" name="Text 16"/>
          <p:cNvSpPr>
            <a:spLocks noGrp="1"/>
          </p:cNvSpPr>
          <p:nvPr>
            <p:ph type="body" idx="19"/>
          </p:nvPr>
        </p:nvSpPr>
        <p:spPr>
          <a:xfrm>
            <a:off x="8381848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qualifier explaining what this measures.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use the brand palette. Replace data values in the embedded Excel.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94560"/>
          <a:ext cx="7498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4"/>
          <p:cNvSpPr>
            <a:spLocks noGrp="1"/>
          </p:cNvSpPr>
          <p:nvPr>
            <p:ph type="body" idx="11"/>
          </p:nvPr>
        </p:nvSpPr>
        <p:spPr>
          <a:xfrm>
            <a:off x="864108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7" name="Text 5"/>
          <p:cNvSpPr>
            <a:spLocks noGrp="1"/>
          </p:cNvSpPr>
          <p:nvPr>
            <p:ph type="body" idx="12"/>
          </p:nvPr>
        </p:nvSpPr>
        <p:spPr>
          <a:xfrm>
            <a:off x="8641080" y="274320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this with the single most important insight from the chart — what should the audience walk away knowing?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tables for structured comparisons. Header uses brand primary.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5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two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7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three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5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label four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Four-Up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service offerings, capabilities, or a set of related concepts.</a:t>
            </a:r>
            <a:endParaRPr lang="en-US" sz="1400" dirty="0"/>
          </a:p>
        </p:txBody>
      </p:sp>
      <p:sp>
        <p:nvSpPr>
          <p:cNvPr id="5" name="Text 4"/>
          <p:cNvSpPr>
            <a:spLocks noGrp="1"/>
          </p:cNvSpPr>
          <p:nvPr>
            <p:ph type="body" idx="11"/>
          </p:nvPr>
        </p:nvSpPr>
        <p:spPr>
          <a:xfrm>
            <a:off x="822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5"/>
          <p:cNvSpPr>
            <a:spLocks noGrp="1"/>
          </p:cNvSpPr>
          <p:nvPr>
            <p:ph type="body" idx="12"/>
          </p:nvPr>
        </p:nvSpPr>
        <p:spPr>
          <a:xfrm>
            <a:off x="160020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One</a:t>
            </a:r>
            <a:endParaRPr lang="en-US" sz="20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160020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8" name="Text 9"/>
          <p:cNvSpPr>
            <a:spLocks noGrp="1"/>
          </p:cNvSpPr>
          <p:nvPr>
            <p:ph type="body" idx="14"/>
          </p:nvPr>
        </p:nvSpPr>
        <p:spPr>
          <a:xfrm>
            <a:off x="6446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10"/>
          <p:cNvSpPr>
            <a:spLocks noGrp="1"/>
          </p:cNvSpPr>
          <p:nvPr>
            <p:ph type="body" idx="15"/>
          </p:nvPr>
        </p:nvSpPr>
        <p:spPr>
          <a:xfrm>
            <a:off x="7223760" y="26243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Two</a:t>
            </a:r>
            <a:endParaRPr lang="en-US" sz="2000" dirty="0"/>
          </a:p>
        </p:txBody>
      </p:sp>
      <p:sp>
        <p:nvSpPr>
          <p:cNvPr id="10" name="Text 11"/>
          <p:cNvSpPr>
            <a:spLocks noGrp="1"/>
          </p:cNvSpPr>
          <p:nvPr>
            <p:ph type="body" idx="16"/>
          </p:nvPr>
        </p:nvSpPr>
        <p:spPr>
          <a:xfrm>
            <a:off x="7223760" y="3200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11" name="Text 14"/>
          <p:cNvSpPr>
            <a:spLocks noGrp="1"/>
          </p:cNvSpPr>
          <p:nvPr>
            <p:ph type="body" idx="17"/>
          </p:nvPr>
        </p:nvSpPr>
        <p:spPr>
          <a:xfrm>
            <a:off x="8229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5"/>
          <p:cNvSpPr>
            <a:spLocks noGrp="1"/>
          </p:cNvSpPr>
          <p:nvPr>
            <p:ph type="body" idx="18"/>
          </p:nvPr>
        </p:nvSpPr>
        <p:spPr>
          <a:xfrm>
            <a:off x="160020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Three</a:t>
            </a:r>
            <a:endParaRPr lang="en-US" sz="2000" dirty="0"/>
          </a:p>
        </p:txBody>
      </p:sp>
      <p:sp>
        <p:nvSpPr>
          <p:cNvPr id="13" name="Text 16"/>
          <p:cNvSpPr>
            <a:spLocks noGrp="1"/>
          </p:cNvSpPr>
          <p:nvPr>
            <p:ph type="body" idx="19"/>
          </p:nvPr>
        </p:nvSpPr>
        <p:spPr>
          <a:xfrm>
            <a:off x="160020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  <p:sp>
        <p:nvSpPr>
          <p:cNvPr id="14" name="Text 19"/>
          <p:cNvSpPr>
            <a:spLocks noGrp="1"/>
          </p:cNvSpPr>
          <p:nvPr>
            <p:ph type="body" idx="20"/>
          </p:nvPr>
        </p:nvSpPr>
        <p:spPr>
          <a:xfrm>
            <a:off x="64465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20"/>
          <p:cNvSpPr>
            <a:spLocks noGrp="1"/>
          </p:cNvSpPr>
          <p:nvPr>
            <p:ph type="body" idx="21"/>
          </p:nvPr>
        </p:nvSpPr>
        <p:spPr>
          <a:xfrm>
            <a:off x="7223760" y="46817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Four</a:t>
            </a:r>
            <a:endParaRPr lang="en-US" sz="2000" dirty="0"/>
          </a:p>
        </p:txBody>
      </p:sp>
      <p:sp>
        <p:nvSpPr>
          <p:cNvPr id="16" name="Text 21"/>
          <p:cNvSpPr>
            <a:spLocks noGrp="1"/>
          </p:cNvSpPr>
          <p:nvPr>
            <p:ph type="body" idx="22"/>
          </p:nvPr>
        </p:nvSpPr>
        <p:spPr>
          <a:xfrm>
            <a:off x="722376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 or two-sentence description of this capability and the value it delivers.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Layout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sequence — works for methodology, phases, or a customer journey.</a:t>
            </a:r>
            <a:endParaRPr lang="en-US" sz="1400" dirty="0"/>
          </a:p>
        </p:txBody>
      </p:sp>
      <p:sp>
        <p:nvSpPr>
          <p:cNvPr id="5" name="Text 4"/>
          <p:cNvSpPr>
            <a:spLocks noGrp="1"/>
          </p:cNvSpPr>
          <p:nvPr>
            <p:ph type="body" idx="11"/>
          </p:nvPr>
        </p:nvSpPr>
        <p:spPr>
          <a:xfrm>
            <a:off x="115808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5"/>
          <p:cNvSpPr>
            <a:spLocks noGrp="1"/>
          </p:cNvSpPr>
          <p:nvPr>
            <p:ph type="body" idx="12"/>
          </p:nvPr>
        </p:nvSpPr>
        <p:spPr>
          <a:xfrm>
            <a:off x="56372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7" name="Text 6"/>
          <p:cNvSpPr>
            <a:spLocks noGrp="1"/>
          </p:cNvSpPr>
          <p:nvPr>
            <p:ph type="body" idx="13"/>
          </p:nvPr>
        </p:nvSpPr>
        <p:spPr>
          <a:xfrm>
            <a:off x="60944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context and constraints.</a:t>
            </a:r>
            <a:endParaRPr lang="en-US" sz="1100" dirty="0"/>
          </a:p>
        </p:txBody>
      </p:sp>
      <p:sp>
        <p:nvSpPr>
          <p:cNvPr id="8" name="Text 8"/>
          <p:cNvSpPr>
            <a:spLocks noGrp="1"/>
          </p:cNvSpPr>
          <p:nvPr>
            <p:ph type="body" idx="14"/>
          </p:nvPr>
        </p:nvSpPr>
        <p:spPr>
          <a:xfrm>
            <a:off x="339836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9"/>
          <p:cNvSpPr>
            <a:spLocks noGrp="1"/>
          </p:cNvSpPr>
          <p:nvPr>
            <p:ph type="body" idx="15"/>
          </p:nvPr>
        </p:nvSpPr>
        <p:spPr>
          <a:xfrm>
            <a:off x="280400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1600" dirty="0"/>
          </a:p>
        </p:txBody>
      </p:sp>
      <p:sp>
        <p:nvSpPr>
          <p:cNvPr id="10" name="Text 10"/>
          <p:cNvSpPr>
            <a:spLocks noGrp="1"/>
          </p:cNvSpPr>
          <p:nvPr>
            <p:ph type="body" idx="16"/>
          </p:nvPr>
        </p:nvSpPr>
        <p:spPr>
          <a:xfrm>
            <a:off x="284972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and success criteria.</a:t>
            </a:r>
            <a:endParaRPr lang="en-US" sz="1100" dirty="0"/>
          </a:p>
        </p:txBody>
      </p:sp>
      <p:sp>
        <p:nvSpPr>
          <p:cNvPr id="11" name="Text 12"/>
          <p:cNvSpPr>
            <a:spLocks noGrp="1"/>
          </p:cNvSpPr>
          <p:nvPr>
            <p:ph type="body" idx="17"/>
          </p:nvPr>
        </p:nvSpPr>
        <p:spPr>
          <a:xfrm>
            <a:off x="563864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3"/>
          <p:cNvSpPr>
            <a:spLocks noGrp="1"/>
          </p:cNvSpPr>
          <p:nvPr>
            <p:ph type="body" idx="18"/>
          </p:nvPr>
        </p:nvSpPr>
        <p:spPr>
          <a:xfrm>
            <a:off x="504428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4"/>
          <p:cNvSpPr>
            <a:spLocks noGrp="1"/>
          </p:cNvSpPr>
          <p:nvPr>
            <p:ph type="body" idx="19"/>
          </p:nvPr>
        </p:nvSpPr>
        <p:spPr>
          <a:xfrm>
            <a:off x="509000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options and select an approach.</a:t>
            </a:r>
            <a:endParaRPr lang="en-US" sz="1100" dirty="0"/>
          </a:p>
        </p:txBody>
      </p:sp>
      <p:sp>
        <p:nvSpPr>
          <p:cNvPr id="14" name="Text 16"/>
          <p:cNvSpPr>
            <a:spLocks noGrp="1"/>
          </p:cNvSpPr>
          <p:nvPr>
            <p:ph type="body" idx="20"/>
          </p:nvPr>
        </p:nvSpPr>
        <p:spPr>
          <a:xfrm>
            <a:off x="787892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7"/>
          <p:cNvSpPr>
            <a:spLocks noGrp="1"/>
          </p:cNvSpPr>
          <p:nvPr>
            <p:ph type="body" idx="21"/>
          </p:nvPr>
        </p:nvSpPr>
        <p:spPr>
          <a:xfrm>
            <a:off x="728456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16" name="Text 18"/>
          <p:cNvSpPr>
            <a:spLocks noGrp="1"/>
          </p:cNvSpPr>
          <p:nvPr>
            <p:ph type="body" idx="22"/>
          </p:nvPr>
        </p:nvSpPr>
        <p:spPr>
          <a:xfrm>
            <a:off x="733028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discipline and feedback.</a:t>
            </a:r>
            <a:endParaRPr lang="en-US" sz="1100" dirty="0"/>
          </a:p>
        </p:txBody>
      </p:sp>
      <p:sp>
        <p:nvSpPr>
          <p:cNvPr id="17" name="Text 20"/>
          <p:cNvSpPr>
            <a:spLocks noGrp="1"/>
          </p:cNvSpPr>
          <p:nvPr>
            <p:ph type="body" idx="23"/>
          </p:nvPr>
        </p:nvSpPr>
        <p:spPr>
          <a:xfrm>
            <a:off x="1011920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21"/>
          <p:cNvSpPr>
            <a:spLocks noGrp="1"/>
          </p:cNvSpPr>
          <p:nvPr>
            <p:ph type="body" idx="24"/>
          </p:nvPr>
        </p:nvSpPr>
        <p:spPr>
          <a:xfrm>
            <a:off x="9524848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</a:t>
            </a:r>
            <a:endParaRPr lang="en-US" sz="1600" dirty="0"/>
          </a:p>
        </p:txBody>
      </p:sp>
      <p:sp>
        <p:nvSpPr>
          <p:cNvPr id="19" name="Text 22"/>
          <p:cNvSpPr>
            <a:spLocks noGrp="1"/>
          </p:cNvSpPr>
          <p:nvPr>
            <p:ph type="body" idx="25"/>
          </p:nvPr>
        </p:nvSpPr>
        <p:spPr>
          <a:xfrm>
            <a:off x="9570568" y="4526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measure, and refine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dirty="0">
                <a:solidFill>
                  <a:srgbClr val="0E5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2194560" y="1828800"/>
            <a:ext cx="9418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a pull quote, customer testimonial, or guiding principle here. Keep it under twenty-five words for visual impact.</a:t>
            </a:r>
            <a:endParaRPr lang="en-US" sz="2600" dirty="0"/>
          </a:p>
        </p:txBody>
      </p:sp>
      <p:sp>
        <p:nvSpPr>
          <p:cNvPr id="5" name="Text 3"/>
          <p:cNvSpPr>
            <a:spLocks noGrp="1"/>
          </p:cNvSpPr>
          <p:nvPr>
            <p:ph type="body" idx="11"/>
          </p:nvPr>
        </p:nvSpPr>
        <p:spPr>
          <a:xfrm>
            <a:off x="2194560" y="461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Name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Organization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>
            <a:spLocks noGrp="1"/>
          </p:cNvSpPr>
          <p:nvPr>
            <p:ph type="body" idx="10"/>
          </p:nvPr>
        </p:nvSpPr>
        <p:spPr>
          <a:xfrm>
            <a:off x="548640" y="4023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follow-up: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name@gamutservices.com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BFC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gamutservices.com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Reference</a:t>
            </a: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"/>
          </p:nvPr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for the design system used by this template.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body" idx="11"/>
          </p:nvPr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6" name="Text 4"/>
          <p:cNvSpPr>
            <a:spLocks noGrp="1"/>
          </p:cNvSpPr>
          <p:nvPr>
            <p:ph type="body" idx="12"/>
          </p:nvPr>
        </p:nvSpPr>
        <p:spPr>
          <a:xfrm>
            <a:off x="5486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>
            <a:spLocks noGrp="1"/>
          </p:cNvSpPr>
          <p:nvPr>
            <p:ph type="body" idx="13"/>
          </p:nvPr>
        </p:nvSpPr>
        <p:spPr>
          <a:xfrm>
            <a:off x="5486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#0E5A66</a:t>
            </a:r>
            <a:endParaRPr lang="en-US" sz="900" dirty="0"/>
          </a:p>
        </p:txBody>
      </p:sp>
      <p:sp>
        <p:nvSpPr>
          <p:cNvPr id="8" name="Text 7"/>
          <p:cNvSpPr>
            <a:spLocks noGrp="1"/>
          </p:cNvSpPr>
          <p:nvPr>
            <p:ph type="body" idx="14"/>
          </p:nvPr>
        </p:nvSpPr>
        <p:spPr>
          <a:xfrm>
            <a:off x="16002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Dk</a:t>
            </a:r>
            <a:endParaRPr lang="en-US" sz="1000" dirty="0"/>
          </a:p>
        </p:txBody>
      </p:sp>
      <p:sp>
        <p:nvSpPr>
          <p:cNvPr id="9" name="Text 8"/>
          <p:cNvSpPr>
            <a:spLocks noGrp="1"/>
          </p:cNvSpPr>
          <p:nvPr>
            <p:ph type="body" idx="15"/>
          </p:nvPr>
        </p:nvSpPr>
        <p:spPr>
          <a:xfrm>
            <a:off x="160020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#0A444E</a:t>
            </a:r>
            <a:endParaRPr lang="en-US" sz="900" dirty="0"/>
          </a:p>
        </p:txBody>
      </p:sp>
      <p:sp>
        <p:nvSpPr>
          <p:cNvPr id="10" name="Text 10"/>
          <p:cNvSpPr>
            <a:spLocks noGrp="1"/>
          </p:cNvSpPr>
          <p:nvPr>
            <p:ph type="body" idx="16"/>
          </p:nvPr>
        </p:nvSpPr>
        <p:spPr>
          <a:xfrm>
            <a:off x="265176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1" name="Text 11"/>
          <p:cNvSpPr>
            <a:spLocks noGrp="1"/>
          </p:cNvSpPr>
          <p:nvPr>
            <p:ph type="body" idx="17"/>
          </p:nvPr>
        </p:nvSpPr>
        <p:spPr>
          <a:xfrm>
            <a:off x="265176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#1F8A99</a:t>
            </a:r>
            <a:endParaRPr lang="en-US" sz="900" dirty="0"/>
          </a:p>
        </p:txBody>
      </p:sp>
      <p:sp>
        <p:nvSpPr>
          <p:cNvPr id="12" name="Text 13"/>
          <p:cNvSpPr>
            <a:spLocks noGrp="1"/>
          </p:cNvSpPr>
          <p:nvPr>
            <p:ph type="body" idx="18"/>
          </p:nvPr>
        </p:nvSpPr>
        <p:spPr>
          <a:xfrm>
            <a:off x="370332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13" name="Text 14"/>
          <p:cNvSpPr>
            <a:spLocks noGrp="1"/>
          </p:cNvSpPr>
          <p:nvPr>
            <p:ph type="body" idx="19"/>
          </p:nvPr>
        </p:nvSpPr>
        <p:spPr>
          <a:xfrm>
            <a:off x="370332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#C97B3C</a:t>
            </a:r>
            <a:endParaRPr lang="en-US" sz="900" dirty="0"/>
          </a:p>
        </p:txBody>
      </p:sp>
      <p:sp>
        <p:nvSpPr>
          <p:cNvPr id="14" name="Text 16"/>
          <p:cNvSpPr>
            <a:spLocks noGrp="1"/>
          </p:cNvSpPr>
          <p:nvPr>
            <p:ph type="body" idx="20"/>
          </p:nvPr>
        </p:nvSpPr>
        <p:spPr>
          <a:xfrm>
            <a:off x="475488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00" dirty="0"/>
          </a:p>
        </p:txBody>
      </p:sp>
      <p:sp>
        <p:nvSpPr>
          <p:cNvPr id="15" name="Text 17"/>
          <p:cNvSpPr>
            <a:spLocks noGrp="1"/>
          </p:cNvSpPr>
          <p:nvPr>
            <p:ph type="body" idx="21"/>
          </p:nvPr>
        </p:nvSpPr>
        <p:spPr>
          <a:xfrm>
            <a:off x="475488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#1A2A33</a:t>
            </a:r>
            <a:endParaRPr lang="en-US" sz="900" dirty="0"/>
          </a:p>
        </p:txBody>
      </p:sp>
      <p:sp>
        <p:nvSpPr>
          <p:cNvPr id="16" name="Text 19"/>
          <p:cNvSpPr>
            <a:spLocks noGrp="1"/>
          </p:cNvSpPr>
          <p:nvPr>
            <p:ph type="body" idx="22"/>
          </p:nvPr>
        </p:nvSpPr>
        <p:spPr>
          <a:xfrm>
            <a:off x="58064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000" dirty="0"/>
          </a:p>
        </p:txBody>
      </p:sp>
      <p:sp>
        <p:nvSpPr>
          <p:cNvPr id="17" name="Text 20"/>
          <p:cNvSpPr>
            <a:spLocks noGrp="1"/>
          </p:cNvSpPr>
          <p:nvPr>
            <p:ph type="body" idx="23"/>
          </p:nvPr>
        </p:nvSpPr>
        <p:spPr>
          <a:xfrm>
            <a:off x="580644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#5A6B73</a:t>
            </a:r>
            <a:endParaRPr lang="en-US" sz="900" dirty="0"/>
          </a:p>
        </p:txBody>
      </p:sp>
      <p:sp>
        <p:nvSpPr>
          <p:cNvPr id="18" name="Text 21"/>
          <p:cNvSpPr>
            <a:spLocks noGrp="1"/>
          </p:cNvSpPr>
          <p:nvPr>
            <p:ph type="body" idx="24"/>
          </p:nvPr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9" name="Text 22"/>
          <p:cNvSpPr>
            <a:spLocks noGrp="1"/>
          </p:cNvSpPr>
          <p:nvPr>
            <p:ph type="body" idx="25"/>
          </p:nvPr>
        </p:nvSpPr>
        <p:spPr>
          <a:xfrm>
            <a:off x="548640" y="4617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Heading — Georgia Bold</a:t>
            </a:r>
            <a:endParaRPr lang="en-US" sz="2800" dirty="0"/>
          </a:p>
        </p:txBody>
      </p:sp>
      <p:sp>
        <p:nvSpPr>
          <p:cNvPr id="20" name="Text 23"/>
          <p:cNvSpPr>
            <a:spLocks noGrp="1"/>
          </p:cNvSpPr>
          <p:nvPr>
            <p:ph type="body" idx="26"/>
          </p:nvPr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Regular. Used for paragraphs, bullet points, captions, and table content throughout the deck.</a:t>
            </a:r>
            <a:endParaRPr lang="en-US" sz="1400" dirty="0"/>
          </a:p>
        </p:txBody>
      </p:sp>
      <p:sp>
        <p:nvSpPr>
          <p:cNvPr id="21" name="Text 24"/>
          <p:cNvSpPr>
            <a:spLocks noGrp="1"/>
          </p:cNvSpPr>
          <p:nvPr>
            <p:ph type="body" idx="27"/>
          </p:nvPr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EYEBROW — CALIBRI BOLD, TRACKED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Widescreen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Presentation Title</vt:lpstr>
      <vt:lpstr>Agenda</vt:lpstr>
      <vt:lpstr>01</vt:lpstr>
      <vt:lpstr>Title and Content Layout</vt:lpstr>
      <vt:lpstr>Two-Column Layout</vt:lpstr>
      <vt:lpstr>Key Metrics Layout</vt:lpstr>
      <vt:lpstr>Chart Layout</vt:lpstr>
      <vt:lpstr>Table Layout</vt:lpstr>
      <vt:lpstr>Four-Up Layout</vt:lpstr>
      <vt:lpstr>Process Layout</vt:lpstr>
      <vt:lpstr>“</vt:lpstr>
      <vt:lpstr>Thank You</vt:lpstr>
      <vt:lpstr>Brand Reference</vt:lpstr>
    </vt:vector>
  </TitlesOfParts>
  <Company>Gamut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Gamut Services Presentation Template</dc:title>
  <dc:subject>Corporate template for new presentations</dc:subject>
  <dc:creator>Gamut Services</dc:creator>
  <cp:lastModifiedBy>Allen Sanders</cp:lastModifiedBy>
  <cp:revision>2</cp:revision>
  <dcterms:created xsi:type="dcterms:W3CDTF">2026-05-18T22:58:38Z</dcterms:created>
  <dcterms:modified xsi:type="dcterms:W3CDTF">2026-09-02T14:19:24Z</dcterms:modified>
</cp:coreProperties>
</file>